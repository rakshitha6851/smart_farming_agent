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79" r:id="rId8"/>
    <p:sldId id="262" r:id="rId9"/>
    <p:sldId id="264" r:id="rId10"/>
    <p:sldId id="278" r:id="rId11"/>
    <p:sldId id="288" r:id="rId12"/>
    <p:sldId id="287" r:id="rId13"/>
    <p:sldId id="286" r:id="rId14"/>
    <p:sldId id="27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50" d="100"/>
          <a:sy n="50" d="100"/>
        </p:scale>
        <p:origin x="-29" y="-70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002697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9629196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559262">
                  <a:extLst>
                    <a:ext uri="{9D8B030D-6E8A-4147-A177-3AD203B41FA5}">
                      <a16:colId xmlns:a16="http://schemas.microsoft.com/office/drawing/2014/main" xmlns="" val="20003"/>
                    </a:ext>
                  </a:extLst>
                </a:gridCol>
                <a:gridCol w="2327486">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US" sz="2400" b="1" dirty="0" smtClean="0">
                <a:highlight>
                  <a:srgbClr val="FFFF00"/>
                </a:highlight>
              </a:rPr>
              <a:t>Agriculture </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AI Agent for Smart Farming Advice </a:t>
            </a:r>
            <a:r>
              <a:rPr lang="en-US" sz="2400" b="1" dirty="0" smtClean="0">
                <a:highlight>
                  <a:srgbClr val="FFFF00"/>
                </a:highlight>
              </a:rPr>
              <a:t>]</a:t>
            </a:r>
            <a:endParaRPr lang="en-IN" sz="24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039" y="3656167"/>
            <a:ext cx="970226" cy="968433"/>
          </a:xfrm>
          <a:prstGeom prst="rect">
            <a:avLst/>
          </a:prstGeom>
        </p:spPr>
      </p:pic>
      <p:sp>
        <p:nvSpPr>
          <p:cNvPr id="3" name="TextBox 2"/>
          <p:cNvSpPr txBox="1"/>
          <p:nvPr/>
        </p:nvSpPr>
        <p:spPr>
          <a:xfrm>
            <a:off x="1539433" y="3970116"/>
            <a:ext cx="1398140" cy="307777"/>
          </a:xfrm>
          <a:prstGeom prst="rect">
            <a:avLst/>
          </a:prstGeom>
          <a:noFill/>
        </p:spPr>
        <p:txBody>
          <a:bodyPr wrap="none" rtlCol="0">
            <a:spAutoFit/>
          </a:bodyPr>
          <a:lstStyle/>
          <a:p>
            <a:r>
              <a:rPr lang="en-IN" b="1" dirty="0" err="1" smtClean="0"/>
              <a:t>Rakshitha</a:t>
            </a:r>
            <a:r>
              <a:rPr lang="en-IN" b="1" dirty="0" smtClean="0"/>
              <a:t> K N</a:t>
            </a:r>
            <a:endParaRPr lang="en-IN" b="1" dirty="0"/>
          </a:p>
        </p:txBody>
      </p:sp>
      <p:sp>
        <p:nvSpPr>
          <p:cNvPr id="5" name="TextBox 4"/>
          <p:cNvSpPr txBox="1"/>
          <p:nvPr/>
        </p:nvSpPr>
        <p:spPr>
          <a:xfrm>
            <a:off x="5788405" y="3970116"/>
            <a:ext cx="2528256" cy="307777"/>
          </a:xfrm>
          <a:prstGeom prst="rect">
            <a:avLst/>
          </a:prstGeom>
          <a:noFill/>
        </p:spPr>
        <p:txBody>
          <a:bodyPr wrap="none" rtlCol="0">
            <a:spAutoFit/>
          </a:bodyPr>
          <a:lstStyle/>
          <a:p>
            <a:r>
              <a:rPr lang="en-IN" b="1" dirty="0" smtClean="0"/>
              <a:t>shivakripa2819@gmail.com</a:t>
            </a:r>
            <a:endParaRPr lang="en-IN" b="1" dirty="0"/>
          </a:p>
        </p:txBody>
      </p:sp>
      <p:sp>
        <p:nvSpPr>
          <p:cNvPr id="6" name="TextBox 5"/>
          <p:cNvSpPr txBox="1"/>
          <p:nvPr/>
        </p:nvSpPr>
        <p:spPr>
          <a:xfrm>
            <a:off x="8875968" y="3986494"/>
            <a:ext cx="1467068" cy="369332"/>
          </a:xfrm>
          <a:prstGeom prst="rect">
            <a:avLst/>
          </a:prstGeom>
          <a:noFill/>
        </p:spPr>
        <p:txBody>
          <a:bodyPr wrap="none" rtlCol="0">
            <a:spAutoFit/>
          </a:bodyPr>
          <a:lstStyle/>
          <a:p>
            <a:r>
              <a:rPr lang="en-IN" sz="1800" dirty="0" smtClean="0"/>
              <a:t>7411342930</a:t>
            </a:r>
            <a:endParaRPr lang="en-I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704088"/>
            <a:ext cx="10607040" cy="6555641"/>
          </a:xfrm>
          <a:prstGeom prst="rect">
            <a:avLst/>
          </a:prstGeom>
          <a:noFill/>
        </p:spPr>
        <p:txBody>
          <a:bodyPr wrap="square" rtlCol="0">
            <a:spAutoFit/>
          </a:bodyPr>
          <a:lstStyle/>
          <a:p>
            <a:pPr fontAlgn="base"/>
            <a:r>
              <a:rPr lang="en-US" b="1" dirty="0"/>
              <a:t>Problem Statement : </a:t>
            </a:r>
            <a:r>
              <a:rPr lang="en-US" b="1" dirty="0"/>
              <a:t>AI Agent for Smart Farming Advice</a:t>
            </a:r>
            <a:r>
              <a:rPr lang="en-US" dirty="0"/>
              <a:t> </a:t>
            </a:r>
          </a:p>
          <a:p>
            <a:pPr fontAlgn="base"/>
            <a:endParaRPr lang="en-US" b="1" dirty="0"/>
          </a:p>
          <a:p>
            <a:pPr fontAlgn="base"/>
            <a:r>
              <a:rPr lang="en-US" b="1" dirty="0"/>
              <a:t>The Challenge</a:t>
            </a:r>
            <a:r>
              <a:rPr lang="en-US" dirty="0"/>
              <a:t> </a:t>
            </a:r>
          </a:p>
          <a:p>
            <a:r>
              <a:rPr lang="en-US" dirty="0"/>
              <a:t>Small-scale farmers often struggle to access reliable and timely agricultural information related to weather forecasts, soil health, crop selection, pest management, irrigation schedules, fertilizer usage, and market prices. Information is usually scattered across multiple sources and may not be available in local languages.</a:t>
            </a:r>
          </a:p>
          <a:p>
            <a:r>
              <a:rPr lang="en-US" dirty="0"/>
              <a:t>Without real-time and location-specific guidance, farmers face risks such as crop failure, pest outbreaks, poor yield, and reduced profits.</a:t>
            </a:r>
          </a:p>
          <a:p>
            <a:r>
              <a:rPr lang="en-US" dirty="0" smtClean="0"/>
              <a:t>.</a:t>
            </a:r>
          </a:p>
          <a:p>
            <a:r>
              <a:rPr lang="en-US" b="1" dirty="0" smtClean="0"/>
              <a:t>The Objective</a:t>
            </a:r>
            <a:endParaRPr lang="en-US" dirty="0"/>
          </a:p>
          <a:p>
            <a:r>
              <a:rPr lang="en-US" dirty="0"/>
              <a:t>Build an AI-powered Smart Farming Agent that provides personalized and real-time agricultural guidance using </a:t>
            </a:r>
            <a:r>
              <a:rPr lang="en-US" b="1" dirty="0"/>
              <a:t>Retrieval-Augmented Generation</a:t>
            </a:r>
            <a:r>
              <a:rPr lang="en-US" dirty="0"/>
              <a:t> (RAG).</a:t>
            </a:r>
          </a:p>
          <a:p>
            <a:r>
              <a:rPr lang="en-US" dirty="0"/>
              <a:t>The solution should:</a:t>
            </a:r>
          </a:p>
          <a:p>
            <a:r>
              <a:rPr lang="en-US" dirty="0"/>
              <a:t>• Recommend suitable crops based on season, soil type, and location.</a:t>
            </a:r>
          </a:p>
          <a:p>
            <a:r>
              <a:rPr lang="en-US" dirty="0"/>
              <a:t>• Provide weather forecasts and rainfall predictions.</a:t>
            </a:r>
          </a:p>
          <a:p>
            <a:r>
              <a:rPr lang="en-US" dirty="0"/>
              <a:t>• Retrieve </a:t>
            </a:r>
            <a:r>
              <a:rPr lang="en-US" dirty="0" err="1"/>
              <a:t>mandi</a:t>
            </a:r>
            <a:r>
              <a:rPr lang="en-US" dirty="0"/>
              <a:t> (market) prices for agricultural commodities.</a:t>
            </a:r>
          </a:p>
          <a:p>
            <a:r>
              <a:rPr lang="en-US" dirty="0"/>
              <a:t>• Offer pest and disease control recommendations.</a:t>
            </a:r>
          </a:p>
          <a:p>
            <a:r>
              <a:rPr lang="en-US" dirty="0"/>
              <a:t>• Suggest irrigation schedules and fertilizer usage.</a:t>
            </a:r>
          </a:p>
          <a:p>
            <a:r>
              <a:rPr lang="en-US" dirty="0"/>
              <a:t>• Support multilingual farmer interactions.</a:t>
            </a:r>
          </a:p>
          <a:p>
            <a:r>
              <a:rPr lang="en-US" dirty="0"/>
              <a:t>• Use trusted agricultural databases and government sources.</a:t>
            </a:r>
          </a:p>
          <a:p>
            <a:r>
              <a:rPr lang="en-US" dirty="0"/>
              <a:t>• Deliver intelligent responses through IBM </a:t>
            </a:r>
            <a:r>
              <a:rPr lang="en-US" dirty="0" smtClean="0"/>
              <a:t>Llama </a:t>
            </a:r>
            <a:r>
              <a:rPr lang="en-US" dirty="0"/>
              <a:t>models.</a:t>
            </a:r>
          </a:p>
          <a:p>
            <a:r>
              <a:rPr lang="en-US" dirty="0"/>
              <a:t>Multi-Agent System</a:t>
            </a:r>
          </a:p>
          <a:p>
            <a:r>
              <a:rPr lang="en-US" dirty="0"/>
              <a:t>Crop Recommendation Agent</a:t>
            </a:r>
          </a:p>
          <a:p>
            <a:r>
              <a:rPr lang="en-US" dirty="0"/>
              <a:t>Weather Intelligence Agent</a:t>
            </a:r>
          </a:p>
          <a:p>
            <a:r>
              <a:rPr lang="en-US" dirty="0"/>
              <a:t>Soil Health Agent</a:t>
            </a:r>
          </a:p>
          <a:p>
            <a:r>
              <a:rPr lang="en-US" dirty="0"/>
              <a:t>Pest Control Agent</a:t>
            </a:r>
          </a:p>
          <a:p>
            <a:r>
              <a:rPr lang="en-US" dirty="0"/>
              <a:t>Market Price Agent</a:t>
            </a:r>
          </a:p>
          <a:p>
            <a:r>
              <a:rPr lang="en-US" dirty="0"/>
              <a:t>Farming Knowledge Agent (RAG)</a:t>
            </a:r>
          </a:p>
          <a:p>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24242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67512" y="1165753"/>
            <a:ext cx="10607040" cy="4401205"/>
          </a:xfrm>
          <a:prstGeom prst="rect">
            <a:avLst/>
          </a:prstGeom>
          <a:noFill/>
        </p:spPr>
        <p:txBody>
          <a:bodyPr wrap="square" rtlCol="0">
            <a:spAutoFit/>
          </a:bodyPr>
          <a:lstStyle/>
          <a:p>
            <a:endParaRPr lang="en-US" b="1" dirty="0"/>
          </a:p>
          <a:p>
            <a:r>
              <a:rPr lang="en-IN" b="1" dirty="0" smtClean="0"/>
              <a:t>Approach </a:t>
            </a:r>
            <a:r>
              <a:rPr lang="en-IN" b="1" dirty="0"/>
              <a:t>Used:</a:t>
            </a:r>
          </a:p>
          <a:p>
            <a:r>
              <a:rPr lang="en-IN" dirty="0"/>
              <a:t>Replicate with </a:t>
            </a:r>
            <a:r>
              <a:rPr lang="en-IN" dirty="0" err="1"/>
              <a:t>LangChain</a:t>
            </a:r>
            <a:r>
              <a:rPr lang="en-IN" dirty="0"/>
              <a:t> + RAG + IBM Granite </a:t>
            </a:r>
            <a:r>
              <a:rPr lang="en-IN" dirty="0" smtClean="0"/>
              <a:t>Models</a:t>
            </a:r>
          </a:p>
          <a:p>
            <a:endParaRPr lang="en-IN" dirty="0"/>
          </a:p>
          <a:p>
            <a:r>
              <a:rPr lang="en-IN" b="1" dirty="0"/>
              <a:t>Technology Stack:</a:t>
            </a:r>
          </a:p>
          <a:p>
            <a:r>
              <a:rPr lang="en-IN" dirty="0"/>
              <a:t>• IBM watsonx.ai</a:t>
            </a:r>
            <a:br>
              <a:rPr lang="en-IN" dirty="0"/>
            </a:br>
            <a:r>
              <a:rPr lang="en-IN" dirty="0"/>
              <a:t>• IBM Granite Models</a:t>
            </a:r>
            <a:br>
              <a:rPr lang="en-IN" dirty="0"/>
            </a:br>
            <a:r>
              <a:rPr lang="en-IN" dirty="0"/>
              <a:t>• </a:t>
            </a:r>
            <a:r>
              <a:rPr lang="en-IN" dirty="0" err="1"/>
              <a:t>LangChain</a:t>
            </a:r>
            <a:r>
              <a:rPr lang="en-IN" dirty="0"/>
              <a:t/>
            </a:r>
            <a:br>
              <a:rPr lang="en-IN" dirty="0"/>
            </a:br>
            <a:r>
              <a:rPr lang="en-IN" dirty="0"/>
              <a:t>• Chroma Vector Database</a:t>
            </a:r>
            <a:br>
              <a:rPr lang="en-IN" dirty="0"/>
            </a:br>
            <a:r>
              <a:rPr lang="en-IN" dirty="0"/>
              <a:t>• Hugging Face </a:t>
            </a:r>
            <a:r>
              <a:rPr lang="en-IN" dirty="0" err="1"/>
              <a:t>Embeddings</a:t>
            </a:r>
            <a:r>
              <a:rPr lang="en-IN" dirty="0"/>
              <a:t/>
            </a:r>
            <a:br>
              <a:rPr lang="en-IN" dirty="0"/>
            </a:br>
            <a:r>
              <a:rPr lang="en-IN" dirty="0"/>
              <a:t>• Flask Web Application</a:t>
            </a:r>
            <a:br>
              <a:rPr lang="en-IN" dirty="0"/>
            </a:br>
            <a:r>
              <a:rPr lang="en-IN" dirty="0"/>
              <a:t>• Python</a:t>
            </a:r>
            <a:br>
              <a:rPr lang="en-IN" dirty="0"/>
            </a:br>
            <a:r>
              <a:rPr lang="en-IN" dirty="0"/>
              <a:t>• RAG Pipeline</a:t>
            </a:r>
            <a:br>
              <a:rPr lang="en-IN" dirty="0"/>
            </a:br>
            <a:r>
              <a:rPr lang="en-IN" dirty="0"/>
              <a:t>• Government Agriculture APIs</a:t>
            </a:r>
            <a:br>
              <a:rPr lang="en-IN" dirty="0"/>
            </a:br>
            <a:r>
              <a:rPr lang="en-IN" dirty="0"/>
              <a:t>• Weather APIs</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4832092"/>
          </a:xfrm>
          <a:prstGeom prst="rect">
            <a:avLst/>
          </a:prstGeom>
          <a:noFill/>
        </p:spPr>
        <p:txBody>
          <a:bodyPr wrap="square" rtlCol="0">
            <a:spAutoFit/>
          </a:bodyPr>
          <a:lstStyle/>
          <a:p>
            <a:r>
              <a:rPr lang="en-US" b="1" dirty="0"/>
              <a:t>Proposed Solution: AI-Powered Smart Farming </a:t>
            </a:r>
            <a:r>
              <a:rPr lang="en-US" b="1" dirty="0" smtClean="0"/>
              <a:t>Agent</a:t>
            </a:r>
          </a:p>
          <a:p>
            <a:endParaRPr lang="en-US" b="1" dirty="0"/>
          </a:p>
          <a:p>
            <a:r>
              <a:rPr lang="en-US" dirty="0"/>
              <a:t>The proposed solution is a </a:t>
            </a:r>
            <a:r>
              <a:rPr lang="en-US" b="1" dirty="0"/>
              <a:t>multi-agent AI-powered Smart Farming Agent</a:t>
            </a:r>
            <a:r>
              <a:rPr lang="en-US" dirty="0"/>
              <a:t> built using </a:t>
            </a:r>
            <a:r>
              <a:rPr lang="en-US" b="1" dirty="0"/>
              <a:t>IBM watsonx.ai, Granite/Llama Models, </a:t>
            </a:r>
            <a:r>
              <a:rPr lang="en-US" b="1" dirty="0" err="1"/>
              <a:t>LangChain</a:t>
            </a:r>
            <a:r>
              <a:rPr lang="en-US" b="1" dirty="0"/>
              <a:t>, and RAG (Retrieval-Augmented Generation)</a:t>
            </a:r>
            <a:r>
              <a:rPr lang="en-US" dirty="0"/>
              <a:t> to provide personalized, real-time agricultural guidance for farmers. The system addresses challenges in crop selection, soil management, pest control, irrigation planning, and market awareness through an intelligent and modular architecture.</a:t>
            </a:r>
          </a:p>
          <a:p>
            <a:r>
              <a:rPr lang="en-US" dirty="0"/>
              <a:t>At its core, the solution uses a </a:t>
            </a:r>
            <a:r>
              <a:rPr lang="en-US" b="1" dirty="0"/>
              <a:t>RAG pipeline</a:t>
            </a:r>
            <a:r>
              <a:rPr lang="en-US" dirty="0"/>
              <a:t> to retrieve accurate agricultural information from trusted farming knowledge sources. The data is embedded and stored in a </a:t>
            </a:r>
            <a:r>
              <a:rPr lang="en-US" b="1" dirty="0"/>
              <a:t>Chroma Vector Database</a:t>
            </a:r>
            <a:r>
              <a:rPr lang="en-US" dirty="0"/>
              <a:t>, enabling the system to fetch relevant information and generate context-aware responses using IBM Granite/Llama models.</a:t>
            </a:r>
          </a:p>
          <a:p>
            <a:r>
              <a:rPr lang="en-US" dirty="0"/>
              <a:t>The system consists of five key agents:</a:t>
            </a:r>
          </a:p>
          <a:p>
            <a:r>
              <a:rPr lang="en-US" b="1" dirty="0"/>
              <a:t>Weather Intelligence Agent</a:t>
            </a:r>
            <a:r>
              <a:rPr lang="en-US" dirty="0"/>
              <a:t> retrieves weather forecasts and rainfall information to support farming decisions. </a:t>
            </a:r>
          </a:p>
          <a:p>
            <a:r>
              <a:rPr lang="en-US" b="1" dirty="0"/>
              <a:t>Crop Recommendation Agent</a:t>
            </a:r>
            <a:r>
              <a:rPr lang="en-US" dirty="0"/>
              <a:t> suggests suitable crops based on season, soil type, and regional conditions. </a:t>
            </a:r>
          </a:p>
          <a:p>
            <a:r>
              <a:rPr lang="en-US" b="1" dirty="0"/>
              <a:t>Soil Health Agent</a:t>
            </a:r>
            <a:r>
              <a:rPr lang="en-US" dirty="0"/>
              <a:t> provides soil-based crop recommendations and fertilizer guidance. </a:t>
            </a:r>
          </a:p>
          <a:p>
            <a:r>
              <a:rPr lang="en-US" b="1" dirty="0"/>
              <a:t>Pest Management Agent</a:t>
            </a:r>
            <a:r>
              <a:rPr lang="en-US" dirty="0"/>
              <a:t> offers pest and disease prevention measures, including organic and chemical control methods. </a:t>
            </a:r>
          </a:p>
          <a:p>
            <a:r>
              <a:rPr lang="en-US" b="1" dirty="0"/>
              <a:t>Market Intelligence Agent</a:t>
            </a:r>
            <a:r>
              <a:rPr lang="en-US" dirty="0"/>
              <a:t> retrieves current </a:t>
            </a:r>
            <a:r>
              <a:rPr lang="en-US" dirty="0" err="1"/>
              <a:t>mandi</a:t>
            </a:r>
            <a:r>
              <a:rPr lang="en-US" dirty="0"/>
              <a:t> prices and market insights to help farmers maximize profits. </a:t>
            </a:r>
          </a:p>
          <a:p>
            <a:r>
              <a:rPr lang="en-US" dirty="0"/>
              <a:t>The solution supports </a:t>
            </a:r>
            <a:r>
              <a:rPr lang="en-US" b="1" dirty="0"/>
              <a:t>multilingual interactions</a:t>
            </a:r>
            <a:r>
              <a:rPr lang="en-US" dirty="0"/>
              <a:t>, allowing farmers to ask questions in their local language and receive accurate responses. A user-friendly </a:t>
            </a:r>
            <a:r>
              <a:rPr lang="en-US" b="1" dirty="0"/>
              <a:t>Flask-based web interface</a:t>
            </a:r>
            <a:r>
              <a:rPr lang="en-US" dirty="0"/>
              <a:t> enables easy access to weather updates, crop recommendations, soil insights, pest control guidance, and </a:t>
            </a:r>
            <a:r>
              <a:rPr lang="en-US" dirty="0" err="1"/>
              <a:t>mandi</a:t>
            </a:r>
            <a:r>
              <a:rPr lang="en-US" dirty="0"/>
              <a:t> prices.</a:t>
            </a:r>
          </a:p>
          <a:p>
            <a:r>
              <a:rPr lang="en-US" b="1" dirty="0" err="1"/>
              <a:t>LangChain</a:t>
            </a:r>
            <a:r>
              <a:rPr lang="en-US" dirty="0"/>
              <a:t> orchestrates the RAG workflow, while </a:t>
            </a:r>
            <a:r>
              <a:rPr lang="en-US" b="1" dirty="0"/>
              <a:t>IBM watsonx.ai</a:t>
            </a:r>
            <a:r>
              <a:rPr lang="en-US" dirty="0"/>
              <a:t> provides scalable AI model deployment. </a:t>
            </a:r>
            <a:r>
              <a:rPr lang="en-US" b="1" dirty="0"/>
              <a:t>Granite/Llama models</a:t>
            </a:r>
            <a:r>
              <a:rPr lang="en-US" dirty="0"/>
              <a:t> power reasoning, summarization, and personalized agricultural recommendations.</a:t>
            </a:r>
          </a:p>
          <a:p>
            <a:r>
              <a:rPr lang="en-US" dirty="0"/>
              <a:t>Overall, this solution delivers an end-to-end intelligent farming assistant that helps farmers make data-driven decisions, improve crop productivity, reduce risks, and increase income through real-time agricultural insights.</a:t>
            </a:r>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smtClean="0">
                <a:sym typeface="Times New Roman"/>
              </a:rPr>
              <a:t>IBM Cloud component </a:t>
            </a:r>
            <a:r>
              <a:rPr lang="en-US" sz="2400" b="1" dirty="0">
                <a:sym typeface="Times New Roman"/>
              </a:rPr>
              <a:t>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5693866"/>
          </a:xfrm>
          <a:prstGeom prst="rect">
            <a:avLst/>
          </a:prstGeom>
          <a:noFill/>
        </p:spPr>
        <p:txBody>
          <a:bodyPr wrap="square" rtlCol="0">
            <a:spAutoFit/>
          </a:bodyPr>
          <a:lstStyle/>
          <a:p>
            <a:pPr marL="285750" indent="-285750">
              <a:buFont typeface="Arial" pitchFamily="34" charset="0"/>
              <a:buChar char="•"/>
            </a:pPr>
            <a:r>
              <a:rPr lang="en-US" b="1" dirty="0" smtClean="0"/>
              <a:t>Chat Input</a:t>
            </a:r>
            <a:r>
              <a:rPr lang="en-US" dirty="0"/>
              <a:t/>
            </a:r>
            <a:br>
              <a:rPr lang="en-US" dirty="0"/>
            </a:br>
            <a:r>
              <a:rPr lang="en-US" dirty="0"/>
              <a:t>The farmer submits a query related to crops, weather, soil, pest control, irrigation, or market prices through the web interface</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Translation </a:t>
            </a:r>
            <a:r>
              <a:rPr lang="en-US" b="1" dirty="0"/>
              <a:t>Module</a:t>
            </a:r>
            <a:r>
              <a:rPr lang="en-US" dirty="0"/>
              <a:t/>
            </a:r>
            <a:br>
              <a:rPr lang="en-US" dirty="0"/>
            </a:br>
            <a:r>
              <a:rPr lang="en-US" dirty="0"/>
              <a:t>The system translates multilingual queries into English to ensure accurate processing and understanding</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Intent </a:t>
            </a:r>
            <a:r>
              <a:rPr lang="en-US" b="1" dirty="0"/>
              <a:t>Detection</a:t>
            </a:r>
            <a:r>
              <a:rPr lang="en-US" dirty="0"/>
              <a:t/>
            </a:r>
            <a:br>
              <a:rPr lang="en-US" dirty="0"/>
            </a:br>
            <a:r>
              <a:rPr lang="en-US" dirty="0"/>
              <a:t>The AI identifies the user's intent and determines the appropriate domain such as weather, soil, crop recommendation, or </a:t>
            </a:r>
            <a:r>
              <a:rPr lang="en-US" dirty="0" err="1"/>
              <a:t>mandi</a:t>
            </a:r>
            <a:r>
              <a:rPr lang="en-US" dirty="0"/>
              <a:t> prices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Data </a:t>
            </a:r>
            <a:r>
              <a:rPr lang="en-US" b="1" dirty="0"/>
              <a:t>Retrieval</a:t>
            </a:r>
            <a:r>
              <a:rPr lang="en-US" dirty="0"/>
              <a:t/>
            </a:r>
            <a:br>
              <a:rPr lang="en-US" dirty="0"/>
            </a:br>
            <a:r>
              <a:rPr lang="en-US" dirty="0"/>
              <a:t>Relevant information is collected from external APIs, the agricultural knowledge base, and the RAG system</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err="1" smtClean="0"/>
              <a:t>ChromaDB</a:t>
            </a:r>
            <a:r>
              <a:rPr lang="en-US" b="1" dirty="0" smtClean="0"/>
              <a:t> </a:t>
            </a:r>
            <a:r>
              <a:rPr lang="en-US" b="1" dirty="0"/>
              <a:t>Vector Search</a:t>
            </a:r>
            <a:r>
              <a:rPr lang="en-US" dirty="0"/>
              <a:t/>
            </a:r>
            <a:br>
              <a:rPr lang="en-US" dirty="0"/>
            </a:br>
            <a:r>
              <a:rPr lang="en-US" dirty="0"/>
              <a:t>The RAG module retrieves the most relevant agricultural knowledge using semantic similarity search</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IBM </a:t>
            </a:r>
            <a:r>
              <a:rPr lang="en-US" b="1" dirty="0"/>
              <a:t>watsonx.ai </a:t>
            </a:r>
            <a:r>
              <a:rPr lang="en-US" b="1" dirty="0" smtClean="0"/>
              <a:t>(Llama </a:t>
            </a:r>
            <a:r>
              <a:rPr lang="en-US" b="1" dirty="0"/>
              <a:t>Model)</a:t>
            </a:r>
            <a:r>
              <a:rPr lang="en-US" dirty="0"/>
              <a:t/>
            </a:r>
            <a:br>
              <a:rPr lang="en-US" dirty="0"/>
            </a:br>
            <a:r>
              <a:rPr lang="en-US" dirty="0"/>
              <a:t>The AI model analyzes the retrieved information and generates context-aware farming recommendations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Response </a:t>
            </a:r>
            <a:r>
              <a:rPr lang="en-US" b="1" dirty="0"/>
              <a:t>Generation</a:t>
            </a:r>
            <a:r>
              <a:rPr lang="en-US" dirty="0"/>
              <a:t/>
            </a:r>
            <a:br>
              <a:rPr lang="en-US" dirty="0"/>
            </a:br>
            <a:r>
              <a:rPr lang="en-US" dirty="0"/>
              <a:t>The system prepares a clear, concise, and farmer-friendly response based on the available data</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smtClean="0"/>
              <a:t>Chat Output</a:t>
            </a:r>
            <a:r>
              <a:rPr lang="en-US" dirty="0"/>
              <a:t/>
            </a:r>
            <a:br>
              <a:rPr lang="en-US" dirty="0"/>
            </a:br>
            <a:r>
              <a:rPr lang="en-US" dirty="0"/>
              <a:t>The final personalized recommendation is provided to help farmers make informed agricultural decisions.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7534" t="7927" r="24890" b="5242"/>
          <a:stretch/>
        </p:blipFill>
        <p:spPr>
          <a:xfrm>
            <a:off x="370708" y="547493"/>
            <a:ext cx="5572132" cy="5720493"/>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8788" t="13639" r="21818" b="37510"/>
          <a:stretch/>
        </p:blipFill>
        <p:spPr>
          <a:xfrm>
            <a:off x="6294120" y="2356178"/>
            <a:ext cx="5486400" cy="386608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795" y="929005"/>
            <a:ext cx="10059988" cy="551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Intent-Based Decision Making</a:t>
            </a:r>
            <a:r>
              <a:rPr lang="en-US" dirty="0"/>
              <a:t> – The AI agent analyzes the farmer's query and identifies whether it is related to weather, soil, crop selection, pest control, irrigation, fertilizer usage, or market prices.</a:t>
            </a:r>
          </a:p>
          <a:p>
            <a:r>
              <a:rPr lang="en-US" b="1" dirty="0"/>
              <a:t>Tool Orchestration</a:t>
            </a:r>
            <a:r>
              <a:rPr lang="en-US" dirty="0"/>
              <a:t> – The agent automatically selects and invokes the appropriate modules such as Weather API, </a:t>
            </a:r>
            <a:r>
              <a:rPr lang="en-US" dirty="0" err="1"/>
              <a:t>Mandi</a:t>
            </a:r>
            <a:r>
              <a:rPr lang="en-US" dirty="0"/>
              <a:t> Price API, Soil Analysis, or RAG Retrieval based on the user's request.</a:t>
            </a:r>
          </a:p>
          <a:p>
            <a:r>
              <a:rPr lang="en-US" b="1" dirty="0"/>
              <a:t>Knowledge-Grounded Responses</a:t>
            </a:r>
            <a:r>
              <a:rPr lang="en-US" dirty="0"/>
              <a:t> – Before generating an answer, the agent retrieves relevant agricultural information from the knowledge base and vector database using RAG, ensuring accurate and reliable recommendations.</a:t>
            </a:r>
          </a:p>
          <a:p>
            <a:r>
              <a:rPr lang="en-US" b="1" dirty="0"/>
              <a:t>Context-Aware Assistance</a:t>
            </a:r>
            <a:r>
              <a:rPr lang="en-US" dirty="0"/>
              <a:t> – The agent considers factors such as season, crop type, soil conditions, and user query context to provide personalized farming advice.</a:t>
            </a:r>
          </a:p>
          <a:p>
            <a:r>
              <a:rPr lang="en-US" b="1" dirty="0"/>
              <a:t>Multilingual Support</a:t>
            </a:r>
            <a:r>
              <a:rPr lang="en-US" dirty="0"/>
              <a:t> – The agent translates farmer queries into English for processing and generates meaningful responses, making the system accessible to users in different languages.</a:t>
            </a:r>
          </a:p>
          <a:p>
            <a:r>
              <a:rPr lang="en-US" b="1" dirty="0"/>
              <a:t>Reliable and Adaptive System</a:t>
            </a:r>
            <a:r>
              <a:rPr lang="en-US" dirty="0"/>
              <a:t> – The agent uses fallback mechanisms for AI models and external APIs, ensuring continuous and dependable assistance even when some services are unavailable.</a:t>
            </a:r>
          </a:p>
          <a:p>
            <a:r>
              <a:rPr lang="en-US" b="1" dirty="0"/>
              <a:t>Outcome:</a:t>
            </a:r>
            <a:r>
              <a:rPr lang="en-US" dirty="0"/>
              <a:t> </a:t>
            </a:r>
            <a:r>
              <a:rPr lang="en-US" dirty="0" err="1"/>
              <a:t>Agentic</a:t>
            </a:r>
            <a:r>
              <a:rPr lang="en-US" dirty="0"/>
              <a:t> AI enables the Smart Farming AI Agent to act as an intelligent agricultural advisor that autonomously retrieves information, reasons over it, and delivers actionable recommendations to farmers.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078313"/>
          </a:xfrm>
          <a:prstGeom prst="rect">
            <a:avLst/>
          </a:prstGeom>
          <a:noFill/>
        </p:spPr>
        <p:txBody>
          <a:bodyPr wrap="square" rtlCol="0">
            <a:spAutoFit/>
          </a:bodyPr>
          <a:lstStyle/>
          <a:p>
            <a:r>
              <a:rPr lang="en-IN" sz="1800" b="1" dirty="0"/>
              <a:t>IBM Cloud </a:t>
            </a:r>
            <a:r>
              <a:rPr lang="en-IN" sz="1800" dirty="0" smtClean="0"/>
              <a:t> </a:t>
            </a:r>
            <a:r>
              <a:rPr lang="en-IN" sz="1800" dirty="0"/>
              <a:t>– Provides a secure and scalable cloud environment for deploying and managing the Smart Farming AI Agent.</a:t>
            </a:r>
          </a:p>
          <a:p>
            <a:endParaRPr lang="en-IN" sz="1800" dirty="0"/>
          </a:p>
          <a:p>
            <a:r>
              <a:rPr lang="en-IN" sz="1800" b="1" dirty="0"/>
              <a:t>IBM watsonx.ai</a:t>
            </a:r>
            <a:r>
              <a:rPr lang="en-IN" sz="1800" dirty="0"/>
              <a:t> – Used for foundation model inference and AI-powered response generation, providing intelligent and context-aware farming recommendations</a:t>
            </a:r>
            <a:r>
              <a:rPr lang="en-IN" sz="1800" dirty="0" smtClean="0"/>
              <a:t>.</a:t>
            </a:r>
          </a:p>
          <a:p>
            <a:endParaRPr lang="en-IN" sz="1800" dirty="0"/>
          </a:p>
          <a:p>
            <a:r>
              <a:rPr lang="en-IN" sz="1800" b="1" dirty="0"/>
              <a:t>IBM </a:t>
            </a:r>
            <a:r>
              <a:rPr lang="en-IN" sz="1800" b="1" dirty="0" smtClean="0"/>
              <a:t>Llama </a:t>
            </a:r>
            <a:r>
              <a:rPr lang="en-IN" sz="1800" b="1" dirty="0"/>
              <a:t>Models</a:t>
            </a:r>
            <a:r>
              <a:rPr lang="en-IN" sz="1800" dirty="0"/>
              <a:t> – Used for natural language understanding, reasoning, and generating personalized agricultural guidance based on user queries</a:t>
            </a:r>
            <a:r>
              <a:rPr lang="en-IN" sz="1800" dirty="0" smtClean="0"/>
              <a:t>. </a:t>
            </a:r>
            <a:r>
              <a:rPr lang="en-IN" sz="1800" dirty="0"/>
              <a:t>meta-llama/llama-3-3-70b-instruct</a:t>
            </a:r>
          </a:p>
          <a:p>
            <a:endParaRPr lang="en-IN" sz="1800" dirty="0" smtClean="0"/>
          </a:p>
          <a:p>
            <a:r>
              <a:rPr lang="en-IN" sz="1800" b="1" dirty="0" err="1" smtClean="0"/>
              <a:t>LangChain</a:t>
            </a:r>
            <a:r>
              <a:rPr lang="en-IN" sz="1800" dirty="0" smtClean="0"/>
              <a:t> </a:t>
            </a:r>
            <a:r>
              <a:rPr lang="en-IN" sz="1800" dirty="0"/>
              <a:t>– Used to build and manage the RAG pipeline, document processing, </a:t>
            </a:r>
            <a:r>
              <a:rPr lang="en-IN" sz="1800" dirty="0" err="1"/>
              <a:t>embeddings</a:t>
            </a:r>
            <a:r>
              <a:rPr lang="en-IN" sz="1800" dirty="0"/>
              <a:t>, and information retrieval workflows</a:t>
            </a:r>
            <a:r>
              <a:rPr lang="en-IN" sz="1800" dirty="0" smtClean="0"/>
              <a:t>.</a:t>
            </a:r>
          </a:p>
          <a:p>
            <a:endParaRPr lang="en-IN" sz="1800" dirty="0"/>
          </a:p>
          <a:p>
            <a:r>
              <a:rPr lang="en-IN" sz="1800" b="1" dirty="0"/>
              <a:t>Chroma Vector Database</a:t>
            </a:r>
            <a:r>
              <a:rPr lang="en-IN" sz="1800" dirty="0"/>
              <a:t> – Stores agricultural knowledge </a:t>
            </a:r>
            <a:r>
              <a:rPr lang="en-IN" sz="1800" dirty="0" err="1"/>
              <a:t>embeddings</a:t>
            </a:r>
            <a:r>
              <a:rPr lang="en-IN" sz="1800" dirty="0"/>
              <a:t> and enables fast similarity search for retrieving relevant farming information</a:t>
            </a:r>
            <a:r>
              <a:rPr lang="en-IN" sz="1800" dirty="0" smtClean="0"/>
              <a:t>.</a:t>
            </a:r>
          </a:p>
          <a:p>
            <a:endParaRPr lang="en-IN" sz="1800" dirty="0"/>
          </a:p>
          <a:p>
            <a:r>
              <a:rPr lang="en-IN" sz="1800" b="1" dirty="0"/>
              <a:t>RAG (Retrieval-Augmented Generation)</a:t>
            </a:r>
            <a:r>
              <a:rPr lang="en-IN" sz="1800" dirty="0"/>
              <a:t> – Retrieves relevant agricultural knowledge from the vector database before generating responses, improving accuracy and reducing hallucinations</a:t>
            </a:r>
            <a:r>
              <a:rPr lang="en-IN" sz="1800" dirty="0" smtClean="0"/>
              <a:t>.</a:t>
            </a:r>
          </a:p>
          <a:p>
            <a:endParaRPr lang="en-IN" sz="1800"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524315"/>
          </a:xfrm>
          <a:prstGeom prst="rect">
            <a:avLst/>
          </a:prstGeom>
          <a:noFill/>
        </p:spPr>
        <p:txBody>
          <a:bodyPr wrap="square" rtlCol="0">
            <a:spAutoFit/>
          </a:bodyPr>
          <a:lstStyle/>
          <a:p>
            <a:r>
              <a:rPr lang="en-IN" sz="1800" b="1" dirty="0" err="1"/>
              <a:t>HuggingFace</a:t>
            </a:r>
            <a:r>
              <a:rPr lang="en-IN" sz="1800" b="1" dirty="0"/>
              <a:t> </a:t>
            </a:r>
            <a:r>
              <a:rPr lang="en-IN" sz="1800" b="1" dirty="0" err="1"/>
              <a:t>Embeddings</a:t>
            </a:r>
            <a:r>
              <a:rPr lang="en-IN" sz="1800" dirty="0"/>
              <a:t> – Converts agricultural documents into vector representations for efficient semantic search and retrieval</a:t>
            </a:r>
            <a:r>
              <a:rPr lang="en-IN" sz="1800" dirty="0" smtClean="0"/>
              <a:t>.</a:t>
            </a:r>
          </a:p>
          <a:p>
            <a:endParaRPr lang="en-IN" sz="1800" dirty="0"/>
          </a:p>
          <a:p>
            <a:r>
              <a:rPr lang="en-IN" sz="1800" b="1" dirty="0" err="1"/>
              <a:t>OpenWeatherMap</a:t>
            </a:r>
            <a:r>
              <a:rPr lang="en-IN" sz="1800" b="1" dirty="0"/>
              <a:t> API</a:t>
            </a:r>
            <a:r>
              <a:rPr lang="en-IN" sz="1800" dirty="0"/>
              <a:t> – Provides real-time weather forecasts and climate information to support farming decisions</a:t>
            </a:r>
            <a:r>
              <a:rPr lang="en-IN" sz="1800" dirty="0" smtClean="0"/>
              <a:t>.</a:t>
            </a:r>
          </a:p>
          <a:p>
            <a:endParaRPr lang="en-IN" sz="1800" dirty="0"/>
          </a:p>
          <a:p>
            <a:r>
              <a:rPr lang="en-IN" sz="1800" b="1" dirty="0"/>
              <a:t>AgMarket/Data.gov API</a:t>
            </a:r>
            <a:r>
              <a:rPr lang="en-IN" sz="1800" dirty="0"/>
              <a:t> – Retrieves </a:t>
            </a:r>
            <a:r>
              <a:rPr lang="en-IN" sz="1800" dirty="0" err="1"/>
              <a:t>mandi</a:t>
            </a:r>
            <a:r>
              <a:rPr lang="en-IN" sz="1800" dirty="0"/>
              <a:t> and commodity prices, helping farmers make informed marketing and selling decisions</a:t>
            </a:r>
            <a:r>
              <a:rPr lang="en-IN" sz="1800" dirty="0" smtClean="0"/>
              <a:t>.</a:t>
            </a:r>
          </a:p>
          <a:p>
            <a:endParaRPr lang="en-IN" sz="1800" dirty="0"/>
          </a:p>
          <a:p>
            <a:r>
              <a:rPr lang="en-IN" sz="1800" b="1" dirty="0"/>
              <a:t>Flask Framework</a:t>
            </a:r>
            <a:r>
              <a:rPr lang="en-IN" sz="1800" dirty="0"/>
              <a:t> – Used to develop the web application and API endpoints, enabling farmers to interact with the AI assistant through a simple interface.</a:t>
            </a:r>
          </a:p>
          <a:p>
            <a:endParaRPr lang="en-IN" sz="1800" dirty="0" smtClean="0"/>
          </a:p>
          <a:p>
            <a:r>
              <a:rPr lang="en-IN" sz="1800" b="1" dirty="0" smtClean="0"/>
              <a:t>Deep </a:t>
            </a:r>
            <a:r>
              <a:rPr lang="en-IN" sz="1800" b="1" dirty="0"/>
              <a:t>Translator</a:t>
            </a:r>
            <a:r>
              <a:rPr lang="en-IN" sz="1800" dirty="0"/>
              <a:t> – Enables multilingual support by translating farmer queries into English for consistent processing by the AI system</a:t>
            </a:r>
            <a:r>
              <a:rPr lang="en-IN" sz="1800" dirty="0" smtClean="0"/>
              <a:t>.</a:t>
            </a:r>
          </a:p>
          <a:p>
            <a:endParaRPr lang="en-IN" sz="1800" dirty="0"/>
          </a:p>
          <a:p>
            <a:endParaRPr lang="en-IN" sz="1800" b="1" dirty="0"/>
          </a:p>
        </p:txBody>
      </p:sp>
    </p:spTree>
    <p:extLst>
      <p:ext uri="{BB962C8B-B14F-4D97-AF65-F5344CB8AC3E}">
        <p14:creationId xmlns:p14="http://schemas.microsoft.com/office/powerpoint/2010/main" val="1974902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smtClean="0"/>
              <a:t>Token Usage</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946297"/>
            <a:ext cx="10515600" cy="892552"/>
          </a:xfrm>
          <a:prstGeom prst="rect">
            <a:avLst/>
          </a:prstGeom>
          <a:noFill/>
        </p:spPr>
        <p:txBody>
          <a:bodyPr wrap="square" rtlCol="0">
            <a:spAutoFit/>
          </a:bodyPr>
          <a:lstStyle/>
          <a:p>
            <a:pPr marL="285750" indent="-285750">
              <a:buFont typeface="Arial" panose="020B0604020202020204" pitchFamily="34" charset="0"/>
              <a:buChar char="•"/>
            </a:pPr>
            <a:endParaRPr lang="en-US" sz="1800" dirty="0"/>
          </a:p>
          <a:p>
            <a:endParaRPr lang="en-US" dirty="0"/>
          </a:p>
          <a:p>
            <a:r>
              <a:rPr lang="en-IN" sz="2000" dirty="0" smtClean="0"/>
              <a:t>16,445 tokens are used</a:t>
            </a:r>
            <a:endParaRPr lang="en-IN" sz="2000"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484" t="43651" r="1061" b="6248"/>
          <a:stretch/>
        </p:blipFill>
        <p:spPr>
          <a:xfrm>
            <a:off x="914400" y="2007228"/>
            <a:ext cx="9601200" cy="4378332"/>
          </a:xfrm>
          <a:prstGeom prst="rect">
            <a:avLst/>
          </a:prstGeom>
        </p:spPr>
        <p:style>
          <a:lnRef idx="2">
            <a:schemeClr val="dk1">
              <a:shade val="50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70315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4462760"/>
          </a:xfrm>
          <a:prstGeom prst="rect">
            <a:avLst/>
          </a:prstGeom>
          <a:noFill/>
        </p:spPr>
        <p:txBody>
          <a:bodyPr wrap="square" rtlCol="0">
            <a:spAutoFit/>
          </a:bodyPr>
          <a:lstStyle/>
          <a:p>
            <a:pPr marL="285750" indent="-285750">
              <a:buFont typeface="Arial" pitchFamily="34" charset="0"/>
              <a:buChar char="•"/>
            </a:pPr>
            <a:r>
              <a:rPr lang="en-US" sz="1800" dirty="0"/>
              <a:t>Combines weather forecasting, </a:t>
            </a:r>
            <a:r>
              <a:rPr lang="en-US" sz="1800" dirty="0" err="1"/>
              <a:t>mandi</a:t>
            </a:r>
            <a:r>
              <a:rPr lang="en-US" sz="1800" dirty="0"/>
              <a:t> prices, soil analysis, crop recommendations, and pest management in a single AI platform</a:t>
            </a:r>
            <a:r>
              <a:rPr lang="en-US" sz="1800" dirty="0" smtClean="0"/>
              <a:t>.</a:t>
            </a:r>
          </a:p>
          <a:p>
            <a:pPr marL="285750" indent="-285750">
              <a:buFont typeface="Arial" pitchFamily="34" charset="0"/>
              <a:buChar char="•"/>
            </a:pPr>
            <a:endParaRPr lang="en-US" sz="1800" dirty="0"/>
          </a:p>
          <a:p>
            <a:pPr marL="285750" indent="-285750">
              <a:buFont typeface="Arial" pitchFamily="34" charset="0"/>
              <a:buChar char="•"/>
            </a:pPr>
            <a:r>
              <a:rPr lang="en-US" sz="1800" dirty="0"/>
              <a:t>Uses </a:t>
            </a:r>
            <a:r>
              <a:rPr lang="en-US" sz="1800" b="1" dirty="0"/>
              <a:t>RAG (Retrieval-Augmented Generation)</a:t>
            </a:r>
            <a:r>
              <a:rPr lang="en-US" sz="1800" dirty="0"/>
              <a:t> to provide accurate and knowledge-based farming advice</a:t>
            </a:r>
            <a:r>
              <a:rPr lang="en-US" sz="1800" dirty="0" smtClean="0"/>
              <a:t>.</a:t>
            </a:r>
          </a:p>
          <a:p>
            <a:pPr marL="285750" indent="-285750">
              <a:buFont typeface="Arial" pitchFamily="34" charset="0"/>
              <a:buChar char="•"/>
            </a:pPr>
            <a:endParaRPr lang="en-US" sz="1800" dirty="0"/>
          </a:p>
          <a:p>
            <a:pPr marL="285750" indent="-285750">
              <a:buFont typeface="Arial" pitchFamily="34" charset="0"/>
              <a:buChar char="•"/>
            </a:pPr>
            <a:r>
              <a:rPr lang="en-US" sz="1800" dirty="0"/>
              <a:t>Supports </a:t>
            </a:r>
            <a:r>
              <a:rPr lang="en-US" sz="1800" b="1" dirty="0"/>
              <a:t>multilingual interaction</a:t>
            </a:r>
            <a:r>
              <a:rPr lang="en-US" sz="1800" dirty="0"/>
              <a:t>, making it accessible to farmers in regional languages</a:t>
            </a:r>
            <a:r>
              <a:rPr lang="en-US" sz="1800" dirty="0" smtClean="0"/>
              <a:t>.</a:t>
            </a:r>
          </a:p>
          <a:p>
            <a:pPr marL="285750" indent="-285750">
              <a:buFont typeface="Arial" pitchFamily="34" charset="0"/>
              <a:buChar char="•"/>
            </a:pPr>
            <a:endParaRPr lang="en-US" sz="1800" dirty="0"/>
          </a:p>
          <a:p>
            <a:pPr marL="285750" indent="-285750">
              <a:buFont typeface="Arial" pitchFamily="34" charset="0"/>
              <a:buChar char="•"/>
            </a:pPr>
            <a:r>
              <a:rPr lang="en-US" sz="1800" dirty="0"/>
              <a:t>Provides </a:t>
            </a:r>
            <a:r>
              <a:rPr lang="en-US" sz="1800" b="1" dirty="0"/>
              <a:t>seasonal and location-specific recommendations</a:t>
            </a:r>
            <a:r>
              <a:rPr lang="en-US" sz="1800" dirty="0"/>
              <a:t> for better decision-making</a:t>
            </a:r>
            <a:r>
              <a:rPr lang="en-US" sz="1800" dirty="0" smtClean="0"/>
              <a:t>.</a:t>
            </a:r>
          </a:p>
          <a:p>
            <a:pPr marL="285750" indent="-285750">
              <a:buFont typeface="Arial" pitchFamily="34" charset="0"/>
              <a:buChar char="•"/>
            </a:pPr>
            <a:endParaRPr lang="en-US" sz="1800" dirty="0"/>
          </a:p>
          <a:p>
            <a:pPr marL="285750" indent="-285750">
              <a:buFont typeface="Arial" pitchFamily="34" charset="0"/>
              <a:buChar char="•"/>
            </a:pPr>
            <a:r>
              <a:rPr lang="en-US" sz="1800" dirty="0"/>
              <a:t>Integrates </a:t>
            </a:r>
            <a:r>
              <a:rPr lang="en-US" sz="1800" b="1" dirty="0"/>
              <a:t>IBM watsonx.ai and Granite/Llama models</a:t>
            </a:r>
            <a:r>
              <a:rPr lang="en-US" sz="1800" dirty="0"/>
              <a:t> for intelligent and context-aware responses</a:t>
            </a:r>
            <a:r>
              <a:rPr lang="en-US" sz="1800" dirty="0" smtClean="0"/>
              <a:t>.</a:t>
            </a:r>
          </a:p>
          <a:p>
            <a:endParaRPr lang="en-US" sz="1800" dirty="0"/>
          </a:p>
          <a:p>
            <a:pPr marL="285750" indent="-285750">
              <a:buFont typeface="Arial" pitchFamily="34" charset="0"/>
              <a:buChar char="•"/>
            </a:pPr>
            <a:r>
              <a:rPr lang="en-US" sz="1800" dirty="0"/>
              <a:t>Includes </a:t>
            </a:r>
            <a:r>
              <a:rPr lang="en-US" sz="1800" b="1" dirty="0"/>
              <a:t>fallback mechanisms</a:t>
            </a:r>
            <a:r>
              <a:rPr lang="en-US" sz="1800" dirty="0"/>
              <a:t> for AI models and external APIs, ensuring reliable service</a:t>
            </a:r>
            <a:r>
              <a:rPr lang="en-US" sz="1800" dirty="0" smtClean="0"/>
              <a:t>.</a:t>
            </a:r>
          </a:p>
          <a:p>
            <a:pPr marL="285750" indent="-285750">
              <a:buFont typeface="Arial" pitchFamily="34" charset="0"/>
              <a:buChar char="•"/>
            </a:pPr>
            <a:endParaRPr lang="en-US" sz="1800" dirty="0"/>
          </a:p>
          <a:p>
            <a:r>
              <a:rPr lang="en-US" sz="1800" b="1" dirty="0"/>
              <a:t>Unique Feature:</a:t>
            </a:r>
            <a:r>
              <a:rPr lang="en-US" sz="1800" dirty="0"/>
              <a:t> A single AI-powered assistant that delivers personalized, real-time, and data-driven agricultural guidance to farmers.</a:t>
            </a:r>
          </a:p>
          <a:p>
            <a:pPr marL="285750" indent="-285750">
              <a:buFont typeface="Arial" pitchFamily="34" charset="0"/>
              <a:buChar char="•"/>
            </a:pPr>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82427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400" dirty="0">
                <a:solidFill>
                  <a:srgbClr val="2B3541"/>
                </a:solidFill>
                <a:latin typeface="Times New Roman"/>
                <a:ea typeface="Times New Roman"/>
                <a:cs typeface="Times New Roman"/>
                <a:sym typeface="Times New Roman"/>
              </a:rPr>
              <a:t>https://github.com/Rakshitha6851/Smart_Farming_agent.git</a:t>
            </a:r>
            <a:endParaRPr sz="240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716098"/>
          </a:xfrm>
          <a:prstGeom prst="rect">
            <a:avLst/>
          </a:prstGeom>
          <a:noFill/>
          <a:ln>
            <a:noFill/>
          </a:ln>
        </p:spPr>
        <p:txBody>
          <a:bodyPr spcFirstLastPara="1" wrap="square" lIns="0" tIns="0" rIns="0" bIns="0" anchor="t" anchorCtr="0">
            <a:noAutofit/>
          </a:bodyPr>
          <a:lstStyle/>
          <a:p>
            <a:r>
              <a:rPr lang="en-US" sz="2000" b="1" dirty="0"/>
              <a:t>1. Smart Automation</a:t>
            </a:r>
          </a:p>
          <a:p>
            <a:r>
              <a:rPr lang="en-US" sz="2000" dirty="0"/>
              <a:t>Integrate </a:t>
            </a:r>
            <a:r>
              <a:rPr lang="en-US" sz="2000" dirty="0" err="1"/>
              <a:t>IoT</a:t>
            </a:r>
            <a:r>
              <a:rPr lang="en-US" sz="2000" dirty="0"/>
              <a:t> sensors for real-time soil monitoring, smart irrigation, and yield prediction</a:t>
            </a:r>
            <a:r>
              <a:rPr lang="en-US" sz="2000" dirty="0" smtClean="0"/>
              <a:t>.</a:t>
            </a:r>
          </a:p>
          <a:p>
            <a:endParaRPr lang="en-US" sz="2000" dirty="0"/>
          </a:p>
          <a:p>
            <a:r>
              <a:rPr lang="en-US" sz="2000" b="1" dirty="0"/>
              <a:t>2. Crop Monitoring</a:t>
            </a:r>
          </a:p>
          <a:p>
            <a:r>
              <a:rPr lang="en-US" sz="2000" dirty="0"/>
              <a:t>Use satellite, drone, and image-based analysis for crop health monitoring and disease detection</a:t>
            </a:r>
            <a:r>
              <a:rPr lang="en-US" sz="2000" dirty="0" smtClean="0"/>
              <a:t>.</a:t>
            </a:r>
          </a:p>
          <a:p>
            <a:endParaRPr lang="en-US" sz="2000" dirty="0"/>
          </a:p>
          <a:p>
            <a:r>
              <a:rPr lang="en-US" sz="2000" b="1" dirty="0"/>
              <a:t>3. Farmer Support</a:t>
            </a:r>
          </a:p>
          <a:p>
            <a:r>
              <a:rPr lang="en-US" sz="2000" dirty="0"/>
              <a:t>Develop a mobile app, voice assistant in regional languages, and integrate market prices and government schemes</a:t>
            </a:r>
            <a:r>
              <a:rPr lang="en-US" sz="2000" dirty="0" smtClean="0"/>
              <a:t>.</a:t>
            </a:r>
          </a:p>
          <a:p>
            <a:endParaRPr lang="en-US" sz="2000" dirty="0"/>
          </a:p>
          <a:p>
            <a:r>
              <a:rPr lang="en-US" sz="2000" b="1" dirty="0"/>
              <a:t>Conclusion:</a:t>
            </a:r>
            <a:r>
              <a:rPr lang="en-US" sz="2000" dirty="0"/>
              <a:t> These enhancements will make the Smart Farming AI Agent more intelligent, accessible, and beneficial for farmers.</a:t>
            </a: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2819</TotalTime>
  <Words>1063</Words>
  <Application>Microsoft Office PowerPoint</Application>
  <PresentationFormat>Custom</PresentationFormat>
  <Paragraphs>145</Paragraphs>
  <Slides>16</Slides>
  <Notes>15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RAKSHITHA</cp:lastModifiedBy>
  <cp:revision>40</cp:revision>
  <dcterms:created xsi:type="dcterms:W3CDTF">2025-07-08T05:06:56Z</dcterms:created>
  <dcterms:modified xsi:type="dcterms:W3CDTF">2026-06-06T13:44:47Z</dcterms:modified>
</cp:coreProperties>
</file>